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1"/>
  </p:notesMasterIdLst>
  <p:sldIdLst>
    <p:sldId id="273" r:id="rId2"/>
    <p:sldId id="275" r:id="rId3"/>
    <p:sldId id="277" r:id="rId4"/>
    <p:sldId id="263" r:id="rId5"/>
    <p:sldId id="284" r:id="rId6"/>
    <p:sldId id="267" r:id="rId7"/>
    <p:sldId id="264" r:id="rId8"/>
    <p:sldId id="278" r:id="rId9"/>
    <p:sldId id="268" r:id="rId10"/>
    <p:sldId id="281" r:id="rId11"/>
    <p:sldId id="266" r:id="rId12"/>
    <p:sldId id="279" r:id="rId13"/>
    <p:sldId id="269" r:id="rId14"/>
    <p:sldId id="282" r:id="rId15"/>
    <p:sldId id="283" r:id="rId16"/>
    <p:sldId id="271" r:id="rId17"/>
    <p:sldId id="270" r:id="rId18"/>
    <p:sldId id="274" r:id="rId19"/>
    <p:sldId id="272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>
        <p:scale>
          <a:sx n="100" d="100"/>
          <a:sy n="100" d="100"/>
        </p:scale>
        <p:origin x="907" y="18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4627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91725" y="9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53250" y="1857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4000" y="414000"/>
            <a:ext cx="1974051" cy="3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06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6000" y="216000"/>
            <a:ext cx="2255043" cy="64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roq.com/?utm_source=chatgpt.com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620785"/>
            <a:ext cx="8856617" cy="4522715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/>
              <a:t>22MCA43 – Project Phase-2</a:t>
            </a:r>
            <a:br>
              <a:rPr lang="en-US" sz="2400" dirty="0"/>
            </a:br>
            <a:r>
              <a:rPr lang="en-US" sz="2400" dirty="0"/>
              <a:t>Object Detection and Audio Generation Using Generative AI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BINDU SHREE Y R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400" dirty="0"/>
              <a:t>IV Semester</a:t>
            </a:r>
            <a:br>
              <a:rPr lang="en-US" sz="2400" dirty="0"/>
            </a:br>
            <a:r>
              <a:rPr lang="en-US" sz="2400" dirty="0">
                <a:solidFill>
                  <a:schemeClr val="tx1"/>
                </a:solidFill>
              </a:rPr>
              <a:t>Under the Guidance of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 err="1">
                <a:solidFill>
                  <a:schemeClr val="tx1"/>
                </a:solidFill>
              </a:rPr>
              <a:t>Ms.K.Sangeetha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Assistant Professor</a:t>
            </a:r>
            <a:br>
              <a:rPr lang="en-US" sz="2400" dirty="0"/>
            </a:br>
            <a:r>
              <a:rPr lang="en-US" sz="2400" dirty="0"/>
              <a:t>Department of MCA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46325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725" y="907256"/>
            <a:ext cx="8520600" cy="57864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Project Overview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1725" y="1621630"/>
            <a:ext cx="8520600" cy="330156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Objective</a:t>
            </a:r>
            <a:r>
              <a:rPr lang="en-US" dirty="0">
                <a:solidFill>
                  <a:schemeClr val="tx1"/>
                </a:solidFill>
              </a:rPr>
              <a:t>: AI-powered system to convert images into natural audio descriptions.</a:t>
            </a:r>
          </a:p>
          <a:p>
            <a:pPr marL="11430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Problem Statement:</a:t>
            </a:r>
          </a:p>
          <a:p>
            <a:pPr marL="114300" indent="0"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Visually impaired users struggle to understand visual content in digital media.</a:t>
            </a:r>
            <a:endParaRPr lang="en-US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Few solutions integrate </a:t>
            </a:r>
            <a:r>
              <a:rPr lang="en-US" b="1" dirty="0">
                <a:solidFill>
                  <a:schemeClr val="tx1"/>
                </a:solidFill>
              </a:rPr>
              <a:t>image-to-audio conversion</a:t>
            </a:r>
            <a:r>
              <a:rPr lang="en-US" dirty="0">
                <a:solidFill>
                  <a:schemeClr val="tx1"/>
                </a:solidFill>
              </a:rPr>
              <a:t> smoothly.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Need for a </a:t>
            </a:r>
            <a:r>
              <a:rPr lang="en-US" b="1" dirty="0">
                <a:solidFill>
                  <a:schemeClr val="tx1"/>
                </a:solidFill>
              </a:rPr>
              <a:t>simple, affordable, and accessible</a:t>
            </a:r>
            <a:r>
              <a:rPr lang="en-US" dirty="0">
                <a:solidFill>
                  <a:schemeClr val="tx1"/>
                </a:solidFill>
              </a:rPr>
              <a:t> solution.</a:t>
            </a:r>
            <a:endParaRPr lang="en-US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dirty="0"/>
              <a:t> </a:t>
            </a:r>
            <a:endParaRPr lang="en-US" b="1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09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5C78039-3299-41B7-A7B7-0506F9969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" y="556260"/>
            <a:ext cx="8432265" cy="95054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Aim of the Project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7449AA-4626-4F09-9F2D-C4C8407B8C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586141"/>
            <a:ext cx="852060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user-friendly system to convert images into audio descriptions.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accessibility for visually impaired users.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image recognition, language processing, and speech generation.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  natural-sounding image descriptions.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simple web-based interface.</a:t>
            </a:r>
          </a:p>
        </p:txBody>
      </p:sp>
    </p:spTree>
    <p:extLst>
      <p:ext uri="{BB962C8B-B14F-4D97-AF65-F5344CB8AC3E}">
        <p14:creationId xmlns:p14="http://schemas.microsoft.com/office/powerpoint/2010/main" val="3041077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2739" y="144780"/>
            <a:ext cx="6039585" cy="5943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Literature Review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26BA8D-A307-45DD-ADF7-6F422761D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110948"/>
              </p:ext>
            </p:extLst>
          </p:nvPr>
        </p:nvGraphicFramePr>
        <p:xfrm>
          <a:off x="259080" y="929640"/>
          <a:ext cx="8573772" cy="413766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57924">
                  <a:extLst>
                    <a:ext uri="{9D8B030D-6E8A-4147-A177-3AD203B41FA5}">
                      <a16:colId xmlns:a16="http://schemas.microsoft.com/office/drawing/2014/main" val="3134057118"/>
                    </a:ext>
                  </a:extLst>
                </a:gridCol>
                <a:gridCol w="2857924">
                  <a:extLst>
                    <a:ext uri="{9D8B030D-6E8A-4147-A177-3AD203B41FA5}">
                      <a16:colId xmlns:a16="http://schemas.microsoft.com/office/drawing/2014/main" val="62682685"/>
                    </a:ext>
                  </a:extLst>
                </a:gridCol>
                <a:gridCol w="2857924">
                  <a:extLst>
                    <a:ext uri="{9D8B030D-6E8A-4147-A177-3AD203B41FA5}">
                      <a16:colId xmlns:a16="http://schemas.microsoft.com/office/drawing/2014/main" val="586272460"/>
                    </a:ext>
                  </a:extLst>
                </a:gridCol>
              </a:tblGrid>
              <a:tr h="405654">
                <a:tc>
                  <a:txBody>
                    <a:bodyPr/>
                    <a:lstStyle/>
                    <a:p>
                      <a:r>
                        <a:rPr lang="en-US" sz="1400" b="1" dirty="0"/>
                        <a:t>Paper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How It Works (Simple)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Example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644809"/>
                  </a:ext>
                </a:extLst>
              </a:tr>
              <a:tr h="689610">
                <a:tc>
                  <a:txBody>
                    <a:bodyPr/>
                    <a:lstStyle/>
                    <a:p>
                      <a:r>
                        <a:rPr lang="en-US" sz="1400" b="1" dirty="0"/>
                        <a:t>1. BLIP (2022)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Looks at an image → generates a meaningful caption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Input: image of dog → Output: “A brown dog sitting on grass.”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414425"/>
                  </a:ext>
                </a:extLst>
              </a:tr>
              <a:tr h="689610">
                <a:tc>
                  <a:txBody>
                    <a:bodyPr/>
                    <a:lstStyle/>
                    <a:p>
                      <a:r>
                        <a:rPr lang="it-IT" sz="1400" b="1" dirty="0"/>
                        <a:t>2. Groq AI Hardware (2023)</a:t>
                      </a:r>
                      <a:endParaRPr lang="it-IT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Runs AI models extremely fast with very low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Real-time model runs in milliseconds → no lag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047006"/>
                  </a:ext>
                </a:extLst>
              </a:tr>
              <a:tr h="689610">
                <a:tc>
                  <a:txBody>
                    <a:bodyPr/>
                    <a:lstStyle/>
                    <a:p>
                      <a:r>
                        <a:rPr lang="en-US" sz="1400" b="1"/>
                        <a:t>3. GTTS (Google TTS)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Takes text → converts into spoken audio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“Person detected ahead” → becomes clear voice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98520"/>
                  </a:ext>
                </a:extLst>
              </a:tr>
              <a:tr h="689610">
                <a:tc>
                  <a:txBody>
                    <a:bodyPr/>
                    <a:lstStyle/>
                    <a:p>
                      <a:r>
                        <a:rPr lang="en-US" sz="1400" b="1"/>
                        <a:t>4. FoleyGen (2024)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Generates realistic sound effects from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Image of waterfall → produces waterfall sound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1057686"/>
                  </a:ext>
                </a:extLst>
              </a:tr>
              <a:tr h="973567">
                <a:tc>
                  <a:txBody>
                    <a:bodyPr/>
                    <a:lstStyle/>
                    <a:p>
                      <a:r>
                        <a:rPr lang="en-US" sz="1400" b="1"/>
                        <a:t>5. Gotta Hear Them All (2024)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Finds multiple sound-producing objects → generates audio for each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Street photo → dog bark + traffic noise + wind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206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491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FC9A27-7DD8-412B-90D2-2192BF5E7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590820"/>
              </p:ext>
            </p:extLst>
          </p:nvPr>
        </p:nvGraphicFramePr>
        <p:xfrm>
          <a:off x="106680" y="990600"/>
          <a:ext cx="8726172" cy="377856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08724">
                  <a:extLst>
                    <a:ext uri="{9D8B030D-6E8A-4147-A177-3AD203B41FA5}">
                      <a16:colId xmlns:a16="http://schemas.microsoft.com/office/drawing/2014/main" val="1225298773"/>
                    </a:ext>
                  </a:extLst>
                </a:gridCol>
                <a:gridCol w="2908724">
                  <a:extLst>
                    <a:ext uri="{9D8B030D-6E8A-4147-A177-3AD203B41FA5}">
                      <a16:colId xmlns:a16="http://schemas.microsoft.com/office/drawing/2014/main" val="451815334"/>
                    </a:ext>
                  </a:extLst>
                </a:gridCol>
                <a:gridCol w="2908724">
                  <a:extLst>
                    <a:ext uri="{9D8B030D-6E8A-4147-A177-3AD203B41FA5}">
                      <a16:colId xmlns:a16="http://schemas.microsoft.com/office/drawing/2014/main" val="3052502472"/>
                    </a:ext>
                  </a:extLst>
                </a:gridCol>
              </a:tblGrid>
              <a:tr h="370448">
                <a:tc>
                  <a:txBody>
                    <a:bodyPr/>
                    <a:lstStyle/>
                    <a:p>
                      <a:r>
                        <a:rPr lang="en-US" sz="1400" b="1" dirty="0"/>
                        <a:t>Paper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How It Works (Simple)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Example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288318"/>
                  </a:ext>
                </a:extLst>
              </a:tr>
              <a:tr h="889075">
                <a:tc>
                  <a:txBody>
                    <a:bodyPr/>
                    <a:lstStyle/>
                    <a:p>
                      <a:r>
                        <a:rPr lang="en-US" sz="1400" b="1" dirty="0"/>
                        <a:t>6. An Eye for an Ear (2024)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Takes a caption → generates natural-sounding audio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“A man crossing the road” → spoken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881478"/>
                  </a:ext>
                </a:extLst>
              </a:tr>
              <a:tr h="629761">
                <a:tc>
                  <a:txBody>
                    <a:bodyPr/>
                    <a:lstStyle/>
                    <a:p>
                      <a:r>
                        <a:rPr lang="en-US" sz="1400" b="1" dirty="0"/>
                        <a:t>7. Diffusion Audio Captioning (2024)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Creates smooth, human-like audio descriptions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Audio: “A bird is chirping softly in a quiet park.”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493670"/>
                  </a:ext>
                </a:extLst>
              </a:tr>
              <a:tr h="629761">
                <a:tc>
                  <a:txBody>
                    <a:bodyPr/>
                    <a:lstStyle/>
                    <a:p>
                      <a:r>
                        <a:rPr lang="en-US" sz="1400" b="1"/>
                        <a:t>8. NowYouSeeMe (2024)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Understands context + objects → produces smart descriptions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Image: person running → “A man running on a track”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1660670"/>
                  </a:ext>
                </a:extLst>
              </a:tr>
              <a:tr h="629761">
                <a:tc>
                  <a:txBody>
                    <a:bodyPr/>
                    <a:lstStyle/>
                    <a:p>
                      <a:r>
                        <a:rPr lang="en-US" sz="1400" b="1"/>
                        <a:t>9. Citizen Cane (2024)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Detects objects + generates audio descriptions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Camera sees a chair blocking the hallway → speaks “Chair ahead.”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386582"/>
                  </a:ext>
                </a:extLst>
              </a:tr>
              <a:tr h="629761">
                <a:tc>
                  <a:txBody>
                    <a:bodyPr/>
                    <a:lstStyle/>
                    <a:p>
                      <a:r>
                        <a:rPr lang="en-US" sz="1400" b="1"/>
                        <a:t>10. Novel Image Captioning (2025)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High-quality image caption generation using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Image: baby + toy → “A baby playing with a red toy.”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0148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401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Key Insights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1724" y="1350168"/>
            <a:ext cx="8637975" cy="36790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LLaMA-3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refinement improves fluency and makes text natural for audio.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gTTS</a:t>
            </a:r>
            <a:r>
              <a:rPr lang="en-US" b="1" dirty="0">
                <a:solidFill>
                  <a:schemeClr val="tx1"/>
                </a:solidFill>
              </a:rPr>
              <a:t> integration</a:t>
            </a:r>
            <a:r>
              <a:rPr lang="en-US" dirty="0">
                <a:solidFill>
                  <a:schemeClr val="tx1"/>
                </a:solidFill>
              </a:rPr>
              <a:t> adds accessibility with instant speech output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Research Gaps: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Limited </a:t>
            </a:r>
            <a:r>
              <a:rPr lang="en-US" b="1" dirty="0">
                <a:solidFill>
                  <a:schemeClr val="tx1"/>
                </a:solidFill>
              </a:rPr>
              <a:t>real-time performance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Lack of </a:t>
            </a:r>
            <a:r>
              <a:rPr lang="en-US" b="1" dirty="0">
                <a:solidFill>
                  <a:schemeClr val="tx1"/>
                </a:solidFill>
              </a:rPr>
              <a:t>offline support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Need for </a:t>
            </a:r>
            <a:r>
              <a:rPr lang="en-US" b="1" dirty="0">
                <a:solidFill>
                  <a:schemeClr val="tx1"/>
                </a:solidFill>
              </a:rPr>
              <a:t>domain-specific fine-tuning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Need of Integrate </a:t>
            </a:r>
            <a:r>
              <a:rPr lang="en-US" b="1" dirty="0">
                <a:solidFill>
                  <a:schemeClr val="tx1"/>
                </a:solidFill>
              </a:rPr>
              <a:t>image-to-audio conversion</a:t>
            </a:r>
            <a:r>
              <a:rPr lang="en-US" dirty="0">
                <a:solidFill>
                  <a:schemeClr val="tx1"/>
                </a:solidFill>
              </a:rPr>
              <a:t> smoothly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849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280" y="365760"/>
            <a:ext cx="8546089" cy="819572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Proposed system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53A97A-10F8-4E76-AE1F-57E7006DD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7" y="1185332"/>
            <a:ext cx="5962650" cy="37103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2019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9A7-F9DB-403D-B5C1-CEC3ED2F8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94" y="971550"/>
            <a:ext cx="8520600" cy="4857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Methodology used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F2A8D-2CD5-481D-B3A6-049E2DDE6984}"/>
              </a:ext>
            </a:extLst>
          </p:cNvPr>
          <p:cNvSpPr txBox="1"/>
          <p:nvPr/>
        </p:nvSpPr>
        <p:spPr>
          <a:xfrm>
            <a:off x="564356" y="1743074"/>
            <a:ext cx="84653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Step 1: Image Upload</a:t>
            </a:r>
          </a:p>
          <a:p>
            <a:r>
              <a:rPr lang="en-US" sz="2400" dirty="0"/>
              <a:t>Step 2: Image Captioning (BLIP)</a:t>
            </a:r>
          </a:p>
          <a:p>
            <a:r>
              <a:rPr lang="en-US" sz="2400" dirty="0"/>
              <a:t>Step 3: Caption Refinement (</a:t>
            </a:r>
            <a:r>
              <a:rPr lang="en-US" sz="2400" dirty="0" err="1"/>
              <a:t>Groq</a:t>
            </a:r>
            <a:r>
              <a:rPr lang="en-US" sz="2400" dirty="0"/>
              <a:t> </a:t>
            </a:r>
            <a:r>
              <a:rPr lang="en-US" sz="2400" dirty="0" err="1"/>
              <a:t>LLaMA</a:t>
            </a:r>
            <a:r>
              <a:rPr lang="en-US" sz="2400" dirty="0"/>
              <a:t>)</a:t>
            </a:r>
          </a:p>
          <a:p>
            <a:r>
              <a:rPr lang="en-US" sz="2400" dirty="0"/>
              <a:t>Step 4: Speech Generation (</a:t>
            </a:r>
            <a:r>
              <a:rPr lang="en-US" sz="2400" dirty="0" err="1"/>
              <a:t>gTTS</a:t>
            </a:r>
            <a:r>
              <a:rPr lang="en-US" sz="2400" dirty="0"/>
              <a:t>)</a:t>
            </a:r>
          </a:p>
          <a:p>
            <a:r>
              <a:rPr lang="en-US" sz="2400" dirty="0"/>
              <a:t>Step 5: Output Display</a:t>
            </a:r>
          </a:p>
        </p:txBody>
      </p:sp>
    </p:spTree>
    <p:extLst>
      <p:ext uri="{BB962C8B-B14F-4D97-AF65-F5344CB8AC3E}">
        <p14:creationId xmlns:p14="http://schemas.microsoft.com/office/powerpoint/2010/main" val="4235588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Tools &amp; technology used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1725" y="1506800"/>
            <a:ext cx="8520600" cy="341524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🔹 </a:t>
            </a:r>
            <a:r>
              <a:rPr lang="en-US" sz="2000" b="1" dirty="0">
                <a:solidFill>
                  <a:schemeClr val="tx1"/>
                </a:solidFill>
              </a:rPr>
              <a:t>Programming Language: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Python </a:t>
            </a:r>
          </a:p>
          <a:p>
            <a:pPr marL="1143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🔹 </a:t>
            </a:r>
            <a:r>
              <a:rPr lang="en-US" sz="2000" b="1" dirty="0">
                <a:solidFill>
                  <a:schemeClr val="tx1"/>
                </a:solidFill>
              </a:rPr>
              <a:t>Frameworks &amp; Libraries: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/>
                </a:solidFill>
              </a:rPr>
              <a:t>Streamlit</a:t>
            </a:r>
            <a:r>
              <a:rPr lang="en-US" sz="2000" dirty="0">
                <a:solidFill>
                  <a:schemeClr val="tx1"/>
                </a:solidFill>
              </a:rPr>
              <a:t> – Web interface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Hugging Face Transformers – BLIP model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/>
                </a:solidFill>
              </a:rPr>
              <a:t>Groq</a:t>
            </a:r>
            <a:r>
              <a:rPr lang="en-US" sz="2000" dirty="0">
                <a:solidFill>
                  <a:schemeClr val="tx1"/>
                </a:solidFill>
              </a:rPr>
              <a:t> API – LLaMA-3 for caption refinement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/>
                </a:solidFill>
              </a:rPr>
              <a:t>gTTS</a:t>
            </a:r>
            <a:r>
              <a:rPr lang="en-US" sz="2000" dirty="0">
                <a:solidFill>
                  <a:schemeClr val="tx1"/>
                </a:solidFill>
              </a:rPr>
              <a:t> – Text-to-Speech conversion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984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930729-E3F1-4AE1-B122-FC9EF921D632}"/>
              </a:ext>
            </a:extLst>
          </p:cNvPr>
          <p:cNvSpPr txBox="1"/>
          <p:nvPr/>
        </p:nvSpPr>
        <p:spPr>
          <a:xfrm>
            <a:off x="1173480" y="342900"/>
            <a:ext cx="7970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Requirements</a:t>
            </a:r>
            <a:endParaRPr lang="en-US" sz="1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D341EC-9C6D-4A0C-8F47-BDAC5A39FDE1}"/>
              </a:ext>
            </a:extLst>
          </p:cNvPr>
          <p:cNvSpPr txBox="1"/>
          <p:nvPr/>
        </p:nvSpPr>
        <p:spPr>
          <a:xfrm>
            <a:off x="285751" y="1650205"/>
            <a:ext cx="41505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🔹 Hardware Requirements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Intel Core i5 / AMD Ryzen 5 or higher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8–16 GB RAM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Stable Internet Connection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Optional NVIDIA GPU for faster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F1DA1-3AE1-4F6D-94E3-7B8EC1014DFC}"/>
              </a:ext>
            </a:extLst>
          </p:cNvPr>
          <p:cNvSpPr txBox="1"/>
          <p:nvPr/>
        </p:nvSpPr>
        <p:spPr>
          <a:xfrm>
            <a:off x="4436269" y="1728788"/>
            <a:ext cx="47077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🔹 Software Requirements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OS: Windows / Linux / macOS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Python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Libraries: </a:t>
            </a:r>
            <a:r>
              <a:rPr lang="en-US" sz="1800" dirty="0" err="1"/>
              <a:t>Streamlit,BLIP</a:t>
            </a:r>
            <a:r>
              <a:rPr lang="en-US" sz="1800" dirty="0"/>
              <a:t>, </a:t>
            </a:r>
            <a:r>
              <a:rPr lang="en-US" sz="1800" dirty="0" err="1"/>
              <a:t>gTTS</a:t>
            </a:r>
            <a:r>
              <a:rPr lang="en-US" sz="1800" dirty="0"/>
              <a:t>, </a:t>
            </a:r>
            <a:r>
              <a:rPr lang="en-US" sz="1800" dirty="0" err="1"/>
              <a:t>Groq</a:t>
            </a: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IDE: </a:t>
            </a:r>
            <a:r>
              <a:rPr lang="en-US" sz="1800" dirty="0" err="1"/>
              <a:t>Jupyter</a:t>
            </a:r>
            <a:r>
              <a:rPr lang="en-US" sz="1800" dirty="0"/>
              <a:t> Notebook / VS Code </a:t>
            </a:r>
          </a:p>
        </p:txBody>
      </p:sp>
    </p:spTree>
    <p:extLst>
      <p:ext uri="{BB962C8B-B14F-4D97-AF65-F5344CB8AC3E}">
        <p14:creationId xmlns:p14="http://schemas.microsoft.com/office/powerpoint/2010/main" val="3416745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 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374A9B-0F3A-4200-B7F2-B8D9E1B2D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8075"/>
            <a:ext cx="9144000" cy="93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80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7713AB-55E1-45EE-B609-A387DE5C8324}"/>
              </a:ext>
            </a:extLst>
          </p:cNvPr>
          <p:cNvSpPr txBox="1"/>
          <p:nvPr/>
        </p:nvSpPr>
        <p:spPr>
          <a:xfrm>
            <a:off x="264319" y="907257"/>
            <a:ext cx="8615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Testing methodology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B16AF0-37DB-468D-8B02-12EAF2033D0D}"/>
              </a:ext>
            </a:extLst>
          </p:cNvPr>
          <p:cNvSpPr txBox="1"/>
          <p:nvPr/>
        </p:nvSpPr>
        <p:spPr>
          <a:xfrm>
            <a:off x="514350" y="1650206"/>
            <a:ext cx="82510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Unit Testing(image upload, caption generation, TTS)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Integration Testing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Functional Testing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Performance Testing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Usability Testing</a:t>
            </a:r>
          </a:p>
        </p:txBody>
      </p:sp>
    </p:spTree>
    <p:extLst>
      <p:ext uri="{BB962C8B-B14F-4D97-AF65-F5344CB8AC3E}">
        <p14:creationId xmlns:p14="http://schemas.microsoft.com/office/powerpoint/2010/main" val="1622152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725" y="457201"/>
            <a:ext cx="8520600" cy="66294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Sample test cases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21360EA-31C5-4680-9C4A-CE03B6A4A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079304"/>
              </p:ext>
            </p:extLst>
          </p:nvPr>
        </p:nvGraphicFramePr>
        <p:xfrm>
          <a:off x="304800" y="1120141"/>
          <a:ext cx="8528050" cy="369474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36775">
                  <a:extLst>
                    <a:ext uri="{9D8B030D-6E8A-4147-A177-3AD203B41FA5}">
                      <a16:colId xmlns:a16="http://schemas.microsoft.com/office/drawing/2014/main" val="321298123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738672418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117963257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504719169"/>
                    </a:ext>
                  </a:extLst>
                </a:gridCol>
              </a:tblGrid>
              <a:tr h="351881">
                <a:tc>
                  <a:txBody>
                    <a:bodyPr/>
                    <a:lstStyle/>
                    <a:p>
                      <a:r>
                        <a:rPr lang="en-US" b="1" dirty="0"/>
                        <a:t>TC 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Test Case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Expected Result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8815831"/>
                  </a:ext>
                </a:extLst>
              </a:tr>
              <a:tr h="598197">
                <a:tc>
                  <a:txBody>
                    <a:bodyPr/>
                    <a:lstStyle/>
                    <a:p>
                      <a:r>
                        <a:rPr lang="en-US" b="1"/>
                        <a:t>TC_01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Image Upload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Upload a valid JPG 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Image displays without error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693814"/>
                  </a:ext>
                </a:extLst>
              </a:tr>
              <a:tr h="598197">
                <a:tc>
                  <a:txBody>
                    <a:bodyPr/>
                    <a:lstStyle/>
                    <a:p>
                      <a:r>
                        <a:rPr lang="en-US" b="1"/>
                        <a:t>TC_02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Caption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Generate caption using BLIP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Caption appears correctly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1262911"/>
                  </a:ext>
                </a:extLst>
              </a:tr>
              <a:tr h="598197">
                <a:tc>
                  <a:txBody>
                    <a:bodyPr/>
                    <a:lstStyle/>
                    <a:p>
                      <a:r>
                        <a:rPr lang="en-US" b="1"/>
                        <a:t>TC_03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Caption Refinement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Send caption to Groq LLaMA-3 for refinement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Refined caption is returned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55949"/>
                  </a:ext>
                </a:extLst>
              </a:tr>
              <a:tr h="598197">
                <a:tc>
                  <a:txBody>
                    <a:bodyPr/>
                    <a:lstStyle/>
                    <a:p>
                      <a:r>
                        <a:rPr lang="en-US" b="1"/>
                        <a:t>TC_04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API Failure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Disable Groq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System shows failure message properly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181644"/>
                  </a:ext>
                </a:extLst>
              </a:tr>
              <a:tr h="598197">
                <a:tc>
                  <a:txBody>
                    <a:bodyPr/>
                    <a:lstStyle/>
                    <a:p>
                      <a:r>
                        <a:rPr lang="en-US" b="1"/>
                        <a:t>TC_05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Audio Conversion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Convert text to audio using gTTS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MP3 audio plays successfully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8587473"/>
                  </a:ext>
                </a:extLst>
              </a:tr>
              <a:tr h="351881">
                <a:tc>
                  <a:txBody>
                    <a:bodyPr/>
                    <a:lstStyle/>
                    <a:p>
                      <a:r>
                        <a:rPr lang="en-US" b="1"/>
                        <a:t>TC_06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Invalid File Upload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Upload a .txt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 message shown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655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043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122F8-FB1F-4427-B9DD-E0DD26FC6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Screenshots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9C1F6-48AF-4732-9DE7-ADD7B93EE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75" y="1242044"/>
            <a:ext cx="4283175" cy="3228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C3041A-C185-45EF-8B61-A3B941D50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34899"/>
            <a:ext cx="4445421" cy="351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529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215C4F-DC61-47B0-BE02-26B1DA0D9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06" y="935830"/>
            <a:ext cx="4172794" cy="3807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42C36D-604C-4CB3-AFE2-0EFC1CD4E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376" y="989408"/>
            <a:ext cx="4233730" cy="375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37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881" y="748363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294" y="1321063"/>
            <a:ext cx="8520600" cy="355811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Successfully built an AI-powered Image-to-Audio System for accessibility.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Integrated BLIP (image captioning), </a:t>
            </a:r>
            <a:r>
              <a:rPr lang="en-US" sz="2200" dirty="0" err="1">
                <a:solidFill>
                  <a:schemeClr val="tx1"/>
                </a:solidFill>
              </a:rPr>
              <a:t>Groq</a:t>
            </a:r>
            <a:r>
              <a:rPr lang="en-US" sz="2200" dirty="0">
                <a:solidFill>
                  <a:schemeClr val="tx1"/>
                </a:solidFill>
              </a:rPr>
              <a:t> LLaMA-3 (caption refinement), and </a:t>
            </a:r>
            <a:r>
              <a:rPr lang="en-US" sz="2200" dirty="0" err="1">
                <a:solidFill>
                  <a:schemeClr val="tx1"/>
                </a:solidFill>
              </a:rPr>
              <a:t>gTTS</a:t>
            </a:r>
            <a:endParaRPr lang="en-US" sz="22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Provides clear and natural audio descriptions.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Simple </a:t>
            </a:r>
            <a:r>
              <a:rPr lang="en-US" sz="2200" dirty="0" err="1">
                <a:solidFill>
                  <a:schemeClr val="tx1"/>
                </a:solidFill>
              </a:rPr>
              <a:t>Streamlit</a:t>
            </a:r>
            <a:r>
              <a:rPr lang="en-US" sz="2200" dirty="0">
                <a:solidFill>
                  <a:schemeClr val="tx1"/>
                </a:solidFill>
              </a:rPr>
              <a:t> web interface for ease of use.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Supports visually impaired users and broader accessibility needs.</a:t>
            </a:r>
          </a:p>
        </p:txBody>
      </p:sp>
    </p:spTree>
    <p:extLst>
      <p:ext uri="{BB962C8B-B14F-4D97-AF65-F5344CB8AC3E}">
        <p14:creationId xmlns:p14="http://schemas.microsoft.com/office/powerpoint/2010/main" val="305036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725" y="714375"/>
            <a:ext cx="8520600" cy="43576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Future enhancement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3026CC-3B92-4FE3-BCE0-F844A4472E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5740" y="1129429"/>
            <a:ext cx="880872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Support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Generate captions and audio in multiple languages.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&amp; Wearable Integration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Extend accessibility on smartphones and AR devices.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 Functionality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 lightweight local models without internet dependency.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Customization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Add natural voices, tones, and accents.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Storage &amp; Sharing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Save and share generated captions and audio.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Domain-Specific Fine-Tuning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Tailor for education, healthcare, and other industries.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Security &amp; Privacy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Stronger encryption for user data.</a:t>
            </a:r>
          </a:p>
        </p:txBody>
      </p:sp>
    </p:spTree>
    <p:extLst>
      <p:ext uri="{BB962C8B-B14F-4D97-AF65-F5344CB8AC3E}">
        <p14:creationId xmlns:p14="http://schemas.microsoft.com/office/powerpoint/2010/main" val="2201163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References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1725" y="1506799"/>
            <a:ext cx="8520600" cy="3558119"/>
          </a:xfrm>
        </p:spPr>
        <p:txBody>
          <a:bodyPr>
            <a:normAutofit fontScale="77500" lnSpcReduction="2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J. Li, R. Li, and J. Gao, “BLIP: Bootstrapping Language-Image Pre-training for Unified Vision-Language Understanding and Generation,” </a:t>
            </a:r>
            <a:r>
              <a:rPr lang="en-US" i="1" dirty="0" err="1"/>
              <a:t>arXiv</a:t>
            </a:r>
            <a:r>
              <a:rPr lang="en-US" i="1" dirty="0"/>
              <a:t> preprint arXiv:2201.12086</a:t>
            </a:r>
            <a:r>
              <a:rPr lang="en-US" dirty="0"/>
              <a:t>, 2022.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Groq</a:t>
            </a:r>
            <a:r>
              <a:rPr lang="en-US" dirty="0"/>
              <a:t> Inc., “</a:t>
            </a:r>
            <a:r>
              <a:rPr lang="en-US" dirty="0" err="1"/>
              <a:t>Groq</a:t>
            </a:r>
            <a:r>
              <a:rPr lang="en-US" dirty="0"/>
              <a:t>: High-performance AI Acceleration,” 2023. [Online]. Available: </a:t>
            </a:r>
            <a:r>
              <a:rPr lang="en-US" dirty="0">
                <a:hlinkClick r:id="rId2"/>
              </a:rPr>
              <a:t>https://www.groq.com/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R. M. </a:t>
            </a:r>
            <a:r>
              <a:rPr lang="en-US" dirty="0" err="1"/>
              <a:t>Rayhane</a:t>
            </a:r>
            <a:r>
              <a:rPr lang="en-US" dirty="0"/>
              <a:t>, “GTTS: Google Text-to-Speech Python Library,” </a:t>
            </a:r>
            <a:r>
              <a:rPr lang="en-US" i="1" dirty="0"/>
              <a:t>GitHub Repository</a:t>
            </a:r>
            <a:r>
              <a:rPr lang="en-US" dirty="0"/>
              <a:t>, 2023.</a:t>
            </a:r>
          </a:p>
          <a:p>
            <a:pPr>
              <a:buFont typeface="+mj-lt"/>
              <a:buAutoNum type="arabicPeriod"/>
            </a:pPr>
            <a:r>
              <a:rPr lang="en-US" dirty="0"/>
              <a:t>X. Mei et al., “</a:t>
            </a:r>
            <a:r>
              <a:rPr lang="en-US" dirty="0" err="1"/>
              <a:t>FoleyGen</a:t>
            </a:r>
            <a:r>
              <a:rPr lang="en-US" dirty="0"/>
              <a:t>: Visually-guided Audio Generation,” </a:t>
            </a:r>
            <a:r>
              <a:rPr lang="en-US" i="1" dirty="0"/>
              <a:t>IEEE MLSP Workshop</a:t>
            </a:r>
            <a:r>
              <a:rPr lang="en-US" dirty="0"/>
              <a:t>, 2024.</a:t>
            </a:r>
          </a:p>
          <a:p>
            <a:pPr>
              <a:buFont typeface="+mj-lt"/>
              <a:buAutoNum type="arabicPeriod"/>
            </a:pPr>
            <a:r>
              <a:rPr lang="en-US" dirty="0"/>
              <a:t>W. Guo et al., “Sound Source Aware Vision to Audio Generation,” </a:t>
            </a:r>
            <a:r>
              <a:rPr lang="en-US" i="1" dirty="0" err="1"/>
              <a:t>arXiv</a:t>
            </a:r>
            <a:r>
              <a:rPr lang="en-US" i="1" dirty="0"/>
              <a:t> preprint arXiv:2411.15447</a:t>
            </a:r>
            <a:r>
              <a:rPr lang="en-US" dirty="0"/>
              <a:t>, 2024.</a:t>
            </a:r>
          </a:p>
          <a:p>
            <a:pPr>
              <a:buFont typeface="+mj-lt"/>
              <a:buAutoNum type="arabicPeriod"/>
            </a:pPr>
            <a:r>
              <a:rPr lang="en-US" dirty="0"/>
              <a:t>H. </a:t>
            </a:r>
            <a:r>
              <a:rPr lang="en-US" dirty="0" err="1"/>
              <a:t>Malard</a:t>
            </a:r>
            <a:r>
              <a:rPr lang="en-US" dirty="0"/>
              <a:t> et al., “Zero-shot Audio Description using Audiovisual Distribution Alignment,” </a:t>
            </a:r>
            <a:r>
              <a:rPr lang="en-US" i="1" dirty="0"/>
              <a:t>arXiv:2410.05997</a:t>
            </a:r>
            <a:r>
              <a:rPr lang="en-US" dirty="0"/>
              <a:t>, 2024.</a:t>
            </a:r>
          </a:p>
          <a:p>
            <a:pPr>
              <a:buFont typeface="+mj-lt"/>
              <a:buAutoNum type="arabicPeriod"/>
            </a:pPr>
            <a:r>
              <a:rPr lang="en-US" dirty="0"/>
              <a:t>M. Xu et al., “Diverse and Efficient Audio Captioning via Diffusion Models,” </a:t>
            </a:r>
            <a:r>
              <a:rPr lang="en-US" i="1" dirty="0"/>
              <a:t>arXiv:2409.09401</a:t>
            </a:r>
            <a:r>
              <a:rPr lang="en-US" dirty="0"/>
              <a:t>, 2024.</a:t>
            </a:r>
          </a:p>
          <a:p>
            <a:pPr>
              <a:buFont typeface="+mj-lt"/>
              <a:buAutoNum type="arabicPeriod"/>
            </a:pPr>
            <a:r>
              <a:rPr lang="en-US" dirty="0"/>
              <a:t>S.-H. Lee et al., “Context-Aware Automatic Audio Description,” </a:t>
            </a:r>
            <a:r>
              <a:rPr lang="en-US" i="1" dirty="0"/>
              <a:t>arXiv:2412.10002</a:t>
            </a:r>
            <a:r>
              <a:rPr lang="en-US" dirty="0"/>
              <a:t>, 2024.</a:t>
            </a:r>
          </a:p>
          <a:p>
            <a:pPr>
              <a:buFont typeface="+mj-lt"/>
              <a:buAutoNum type="arabicPeriod"/>
            </a:pPr>
            <a:r>
              <a:rPr lang="en-US" dirty="0"/>
              <a:t>A. </a:t>
            </a:r>
            <a:r>
              <a:rPr lang="en-US" dirty="0" err="1"/>
              <a:t>Navhule</a:t>
            </a:r>
            <a:r>
              <a:rPr lang="en-US" dirty="0"/>
              <a:t> et al., “Citizen Cane—An Object Detection and Image Description System,” </a:t>
            </a:r>
            <a:r>
              <a:rPr lang="en-US" i="1" dirty="0"/>
              <a:t>IEEE DELCON 2024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A. Khan and J. Singh, “Image Captioning Using Deep Learning Methodology,” </a:t>
            </a:r>
            <a:r>
              <a:rPr lang="en-US" i="1" dirty="0"/>
              <a:t>ICCK Transactions on Machine Intelligence</a:t>
            </a:r>
            <a:r>
              <a:rPr lang="en-US" dirty="0"/>
              <a:t>, 2025.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895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577" y="1139879"/>
            <a:ext cx="5078573" cy="322287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51062297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1071</Words>
  <Application>Microsoft Office PowerPoint</Application>
  <PresentationFormat>On-screen Show (16:9)</PresentationFormat>
  <Paragraphs>156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Wingdings</vt:lpstr>
      <vt:lpstr>Simple Light</vt:lpstr>
      <vt:lpstr>22MCA43 – Project Phase-2 Object Detection and Audio Generation Using Generative AI BINDU SHREE Y R IV Semester Under the Guidance of  Ms.K.Sangeetha Assistant Professor Department of MCA </vt:lpstr>
      <vt:lpstr>Project Overview </vt:lpstr>
      <vt:lpstr>Aim of the Project </vt:lpstr>
      <vt:lpstr>Literature Review  </vt:lpstr>
      <vt:lpstr>PowerPoint Presentation</vt:lpstr>
      <vt:lpstr>Key Insights</vt:lpstr>
      <vt:lpstr>Proposed system </vt:lpstr>
      <vt:lpstr>Methodology used </vt:lpstr>
      <vt:lpstr>Tools &amp; technology used</vt:lpstr>
      <vt:lpstr>PowerPoint Presentation</vt:lpstr>
      <vt:lpstr> Design</vt:lpstr>
      <vt:lpstr>PowerPoint Presentation</vt:lpstr>
      <vt:lpstr>Sample test cases</vt:lpstr>
      <vt:lpstr>Screenshots</vt:lpstr>
      <vt:lpstr>PowerPoint Presentation</vt:lpstr>
      <vt:lpstr>Conclusion</vt:lpstr>
      <vt:lpstr>Future enhancement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RVITM</dc:creator>
  <cp:lastModifiedBy>Bindu Shree Y R</cp:lastModifiedBy>
  <cp:revision>20</cp:revision>
  <dcterms:modified xsi:type="dcterms:W3CDTF">2025-11-23T14:40:31Z</dcterms:modified>
</cp:coreProperties>
</file>